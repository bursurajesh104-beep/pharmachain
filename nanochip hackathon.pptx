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8288000" cy="10287000"/>
  <p:notesSz cx="6858000" cy="9144000"/>
  <p:embeddedFontLst>
    <p:embeddedFont>
      <p:font typeface="Barlow" panose="00000500000000000000" pitchFamily="2" charset="0"/>
      <p:regular r:id="rId11"/>
      <p:bold r:id="rId12"/>
      <p:italic r:id="rId13"/>
      <p:boldItalic r:id="rId14"/>
    </p:embeddedFont>
    <p:embeddedFont>
      <p:font typeface="Barlow Bold" panose="00000800000000000000" charset="0"/>
      <p:regular r:id="rId15"/>
    </p:embeddedFont>
    <p:embeddedFont>
      <p:font typeface="Canva Sans" panose="020B0604020202020204" charset="0"/>
      <p:regular r:id="rId16"/>
    </p:embeddedFont>
    <p:embeddedFont>
      <p:font typeface="Chunk Five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AD1D64-FD8D-4F16-88B7-F141871318AB}" v="1" dt="2025-11-08T16:39:02.9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124" y="5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esh bursu" userId="c4bddb29d9f307b0" providerId="LiveId" clId="{3F1147FF-6B27-44D8-AD83-2EFC1DAE8208}"/>
    <pc:docChg chg="modSld">
      <pc:chgData name="rajesh bursu" userId="c4bddb29d9f307b0" providerId="LiveId" clId="{3F1147FF-6B27-44D8-AD83-2EFC1DAE8208}" dt="2025-11-08T16:39:02.962" v="52"/>
      <pc:docMkLst>
        <pc:docMk/>
      </pc:docMkLst>
      <pc:sldChg chg="modSp mod">
        <pc:chgData name="rajesh bursu" userId="c4bddb29d9f307b0" providerId="LiveId" clId="{3F1147FF-6B27-44D8-AD83-2EFC1DAE8208}" dt="2025-11-08T16:39:02.962" v="52"/>
        <pc:sldMkLst>
          <pc:docMk/>
          <pc:sldMk cId="0" sldId="256"/>
        </pc:sldMkLst>
        <pc:spChg chg="mod">
          <ac:chgData name="rajesh bursu" userId="c4bddb29d9f307b0" providerId="LiveId" clId="{3F1147FF-6B27-44D8-AD83-2EFC1DAE8208}" dt="2025-11-08T16:39:02.962" v="52"/>
          <ac:spMkLst>
            <pc:docMk/>
            <pc:sldMk cId="0" sldId="256"/>
            <ac:spMk id="11" creationId="{789E3CD2-32FD-768A-7E77-2074C582B83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5.svg"/><Relationship Id="rId3" Type="http://schemas.openxmlformats.org/officeDocument/2006/relationships/image" Target="../media/image13.svg"/><Relationship Id="rId7" Type="http://schemas.openxmlformats.org/officeDocument/2006/relationships/image" Target="../media/image4.svg"/><Relationship Id="rId12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2.svg"/><Relationship Id="rId15" Type="http://schemas.openxmlformats.org/officeDocument/2006/relationships/image" Target="../media/image10.sv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svg"/><Relationship Id="rId1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5.svg"/><Relationship Id="rId3" Type="http://schemas.openxmlformats.org/officeDocument/2006/relationships/image" Target="../media/image13.svg"/><Relationship Id="rId7" Type="http://schemas.openxmlformats.org/officeDocument/2006/relationships/image" Target="../media/image4.svg"/><Relationship Id="rId12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2.svg"/><Relationship Id="rId15" Type="http://schemas.openxmlformats.org/officeDocument/2006/relationships/image" Target="../media/image10.sv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svg"/><Relationship Id="rId1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5.svg"/><Relationship Id="rId3" Type="http://schemas.openxmlformats.org/officeDocument/2006/relationships/image" Target="../media/image13.svg"/><Relationship Id="rId7" Type="http://schemas.openxmlformats.org/officeDocument/2006/relationships/image" Target="../media/image4.svg"/><Relationship Id="rId12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2.svg"/><Relationship Id="rId15" Type="http://schemas.openxmlformats.org/officeDocument/2006/relationships/image" Target="../media/image10.sv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svg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6.sv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5.svg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onedrive.live.com/:x:/g/personal/B45241BAA64C1C66/EQD5s6cqBMVKhF1MsfSRRoQB3hn9ZyjQXm1Tes4UcLi1QA?resid=B45241BAA64C1C66!sa7b3f900042a4ac5845d4cb1f4914684&amp;ithint=file%2Cxlsx&amp;e=ykjNQH&amp;migratedtospo=true&amp;redeem=aHR0cHM6Ly8xZHJ2Lm1zL3gvYy9iNDUyNDFiYWE2NGMxYzY2L0VRRDVzNmNxQk1WS2hGMU1zZlNSUm9RQjNobjlaeWpRWG0xVGVzNFVjTGkxUUE_ZT15a2pOUUg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5.svg"/><Relationship Id="rId3" Type="http://schemas.openxmlformats.org/officeDocument/2006/relationships/image" Target="../media/image13.svg"/><Relationship Id="rId7" Type="http://schemas.openxmlformats.org/officeDocument/2006/relationships/image" Target="../media/image4.svg"/><Relationship Id="rId12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2.svg"/><Relationship Id="rId15" Type="http://schemas.openxmlformats.org/officeDocument/2006/relationships/image" Target="../media/image10.sv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svg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78558" y="2168607"/>
            <a:ext cx="11482787" cy="4906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26"/>
              </a:lnSpc>
            </a:pPr>
            <a:r>
              <a:rPr lang="en-US" sz="17965" dirty="0">
                <a:solidFill>
                  <a:srgbClr val="1F4A7A"/>
                </a:solidFill>
                <a:latin typeface="Chunk Five"/>
                <a:ea typeface="Chunk Five"/>
                <a:cs typeface="Chunk Five"/>
                <a:sym typeface="Chunk Five"/>
              </a:rPr>
              <a:t>Pharma</a:t>
            </a:r>
          </a:p>
          <a:p>
            <a:pPr algn="ctr">
              <a:lnSpc>
                <a:spcPts val="17426"/>
              </a:lnSpc>
            </a:pPr>
            <a:r>
              <a:rPr lang="en-US" sz="17965" dirty="0">
                <a:solidFill>
                  <a:srgbClr val="1F4A7A"/>
                </a:solidFill>
                <a:latin typeface="Chunk Five"/>
                <a:ea typeface="Chunk Five"/>
                <a:cs typeface="Chunk Five"/>
                <a:sym typeface="Chunk Five"/>
              </a:rPr>
              <a:t>Chain</a:t>
            </a:r>
          </a:p>
        </p:txBody>
      </p:sp>
      <p:sp>
        <p:nvSpPr>
          <p:cNvPr id="3" name="Freeform 3"/>
          <p:cNvSpPr/>
          <p:nvPr/>
        </p:nvSpPr>
        <p:spPr>
          <a:xfrm>
            <a:off x="-505339" y="6105959"/>
            <a:ext cx="5439299" cy="5655225"/>
          </a:xfrm>
          <a:custGeom>
            <a:avLst/>
            <a:gdLst/>
            <a:ahLst/>
            <a:cxnLst/>
            <a:rect l="l" t="t" r="r" b="b"/>
            <a:pathLst>
              <a:path w="5439299" h="5655225">
                <a:moveTo>
                  <a:pt x="0" y="0"/>
                </a:moveTo>
                <a:lnTo>
                  <a:pt x="5439298" y="0"/>
                </a:lnTo>
                <a:lnTo>
                  <a:pt x="5439298" y="5655226"/>
                </a:lnTo>
                <a:lnTo>
                  <a:pt x="0" y="5655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-2027057" y="-1199521"/>
            <a:ext cx="5668538" cy="4905862"/>
          </a:xfrm>
          <a:custGeom>
            <a:avLst/>
            <a:gdLst/>
            <a:ahLst/>
            <a:cxnLst/>
            <a:rect l="l" t="t" r="r" b="b"/>
            <a:pathLst>
              <a:path w="5668538" h="4905862">
                <a:moveTo>
                  <a:pt x="0" y="0"/>
                </a:moveTo>
                <a:lnTo>
                  <a:pt x="5668538" y="0"/>
                </a:lnTo>
                <a:lnTo>
                  <a:pt x="5668538" y="4905862"/>
                </a:lnTo>
                <a:lnTo>
                  <a:pt x="0" y="49058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6986990" y="-337785"/>
            <a:ext cx="4314021" cy="2015824"/>
          </a:xfrm>
          <a:custGeom>
            <a:avLst/>
            <a:gdLst/>
            <a:ahLst/>
            <a:cxnLst/>
            <a:rect l="l" t="t" r="r" b="b"/>
            <a:pathLst>
              <a:path w="4314021" h="2015824">
                <a:moveTo>
                  <a:pt x="0" y="0"/>
                </a:moveTo>
                <a:lnTo>
                  <a:pt x="4314020" y="0"/>
                </a:lnTo>
                <a:lnTo>
                  <a:pt x="4314020" y="2015824"/>
                </a:lnTo>
                <a:lnTo>
                  <a:pt x="0" y="20158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6122384" y="9046740"/>
            <a:ext cx="4314021" cy="2015824"/>
          </a:xfrm>
          <a:custGeom>
            <a:avLst/>
            <a:gdLst/>
            <a:ahLst/>
            <a:cxnLst/>
            <a:rect l="l" t="t" r="r" b="b"/>
            <a:pathLst>
              <a:path w="4314021" h="2015824">
                <a:moveTo>
                  <a:pt x="0" y="0"/>
                </a:moveTo>
                <a:lnTo>
                  <a:pt x="4314021" y="0"/>
                </a:lnTo>
                <a:lnTo>
                  <a:pt x="4314021" y="2015825"/>
                </a:lnTo>
                <a:lnTo>
                  <a:pt x="0" y="20158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3817840" y="5143500"/>
            <a:ext cx="6486476" cy="7806481"/>
          </a:xfrm>
          <a:custGeom>
            <a:avLst/>
            <a:gdLst/>
            <a:ahLst/>
            <a:cxnLst/>
            <a:rect l="l" t="t" r="r" b="b"/>
            <a:pathLst>
              <a:path w="6486476" h="7806481">
                <a:moveTo>
                  <a:pt x="0" y="0"/>
                </a:moveTo>
                <a:lnTo>
                  <a:pt x="6486476" y="0"/>
                </a:lnTo>
                <a:lnTo>
                  <a:pt x="6486476" y="7806481"/>
                </a:lnTo>
                <a:lnTo>
                  <a:pt x="0" y="78064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1624829" y="7646384"/>
            <a:ext cx="4386022" cy="4114800"/>
          </a:xfrm>
          <a:custGeom>
            <a:avLst/>
            <a:gdLst/>
            <a:ahLst/>
            <a:cxnLst/>
            <a:rect l="l" t="t" r="r" b="b"/>
            <a:pathLst>
              <a:path w="4386022" h="4114800">
                <a:moveTo>
                  <a:pt x="0" y="0"/>
                </a:moveTo>
                <a:lnTo>
                  <a:pt x="4386022" y="0"/>
                </a:lnTo>
                <a:lnTo>
                  <a:pt x="43860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3938951" y="276303"/>
            <a:ext cx="4143799" cy="2352997"/>
          </a:xfrm>
          <a:custGeom>
            <a:avLst/>
            <a:gdLst/>
            <a:ahLst/>
            <a:cxnLst/>
            <a:rect l="l" t="t" r="r" b="b"/>
            <a:pathLst>
              <a:path w="4143799" h="2352997">
                <a:moveTo>
                  <a:pt x="0" y="0"/>
                </a:moveTo>
                <a:lnTo>
                  <a:pt x="4143799" y="0"/>
                </a:lnTo>
                <a:lnTo>
                  <a:pt x="4143799" y="2352997"/>
                </a:lnTo>
                <a:lnTo>
                  <a:pt x="0" y="235299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5014" b="-402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4524643" y="6447196"/>
            <a:ext cx="8829398" cy="347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0"/>
              </a:lnSpc>
            </a:pPr>
            <a:r>
              <a:rPr lang="en-US" sz="2050" b="1" spc="22" dirty="0">
                <a:solidFill>
                  <a:srgbClr val="1F4A7A"/>
                </a:solidFill>
                <a:latin typeface="Barlow Bold"/>
                <a:ea typeface="Barlow Bold"/>
                <a:cs typeface="Barlow Bold"/>
                <a:sym typeface="Barlow Bold"/>
              </a:rPr>
              <a:t>FDA-verified Cold-Chain Drug Tracking with Realtime Telemetry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9E3CD2-32FD-768A-7E77-2074C582B837}"/>
              </a:ext>
            </a:extLst>
          </p:cNvPr>
          <p:cNvSpPr txBox="1"/>
          <p:nvPr/>
        </p:nvSpPr>
        <p:spPr>
          <a:xfrm>
            <a:off x="4191000" y="7006438"/>
            <a:ext cx="10965872" cy="2040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57"/>
              </a:lnSpc>
            </a:pPr>
            <a:r>
              <a:rPr lang="en-US" sz="3000" dirty="0"/>
              <a:t>GitHub Repository: </a:t>
            </a:r>
            <a:r>
              <a:rPr lang="en-US" sz="3000" i="1" dirty="0"/>
              <a:t>[https://github.com/bursurajesh104-beep/pharmachain]</a:t>
            </a:r>
            <a:br>
              <a:rPr lang="en-US" sz="3000" dirty="0"/>
            </a:br>
            <a:endParaRPr lang="en-US" sz="3000" dirty="0">
              <a:solidFill>
                <a:srgbClr val="1F4A7A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3057"/>
              </a:lnSpc>
            </a:pPr>
            <a:endParaRPr lang="en-US" sz="1800" dirty="0">
              <a:solidFill>
                <a:srgbClr val="1F4A7A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3057"/>
              </a:lnSpc>
            </a:pPr>
            <a:endParaRPr lang="en-US" sz="1800" dirty="0">
              <a:solidFill>
                <a:srgbClr val="1F4A7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71030" y="1052792"/>
            <a:ext cx="6545941" cy="1019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1F4A7A"/>
                </a:solidFill>
                <a:latin typeface="Chunk Five"/>
                <a:ea typeface="Chunk Five"/>
                <a:cs typeface="Chunk Five"/>
                <a:sym typeface="Chunk Five"/>
              </a:rPr>
              <a:t>Our Team</a:t>
            </a:r>
          </a:p>
        </p:txBody>
      </p:sp>
      <p:sp>
        <p:nvSpPr>
          <p:cNvPr id="3" name="Freeform 3"/>
          <p:cNvSpPr/>
          <p:nvPr/>
        </p:nvSpPr>
        <p:spPr>
          <a:xfrm>
            <a:off x="13996549" y="-265319"/>
            <a:ext cx="5436439" cy="3400245"/>
          </a:xfrm>
          <a:custGeom>
            <a:avLst/>
            <a:gdLst/>
            <a:ahLst/>
            <a:cxnLst/>
            <a:rect l="l" t="t" r="r" b="b"/>
            <a:pathLst>
              <a:path w="5436439" h="3400245">
                <a:moveTo>
                  <a:pt x="0" y="0"/>
                </a:moveTo>
                <a:lnTo>
                  <a:pt x="5436439" y="0"/>
                </a:lnTo>
                <a:lnTo>
                  <a:pt x="5436439" y="3400246"/>
                </a:lnTo>
                <a:lnTo>
                  <a:pt x="0" y="3400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-330239" y="5868260"/>
            <a:ext cx="5439299" cy="5655225"/>
          </a:xfrm>
          <a:custGeom>
            <a:avLst/>
            <a:gdLst/>
            <a:ahLst/>
            <a:cxnLst/>
            <a:rect l="l" t="t" r="r" b="b"/>
            <a:pathLst>
              <a:path w="5439299" h="5655225">
                <a:moveTo>
                  <a:pt x="0" y="0"/>
                </a:moveTo>
                <a:lnTo>
                  <a:pt x="5439298" y="0"/>
                </a:lnTo>
                <a:lnTo>
                  <a:pt x="5439298" y="5655225"/>
                </a:lnTo>
                <a:lnTo>
                  <a:pt x="0" y="56552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rot="1604997">
            <a:off x="-957478" y="995595"/>
            <a:ext cx="3972356" cy="3437893"/>
          </a:xfrm>
          <a:custGeom>
            <a:avLst/>
            <a:gdLst/>
            <a:ahLst/>
            <a:cxnLst/>
            <a:rect l="l" t="t" r="r" b="b"/>
            <a:pathLst>
              <a:path w="3972356" h="3437893">
                <a:moveTo>
                  <a:pt x="0" y="0"/>
                </a:moveTo>
                <a:lnTo>
                  <a:pt x="3972356" y="0"/>
                </a:lnTo>
                <a:lnTo>
                  <a:pt x="3972356" y="3437894"/>
                </a:lnTo>
                <a:lnTo>
                  <a:pt x="0" y="34378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2155201" y="-481761"/>
            <a:ext cx="4314021" cy="2015824"/>
          </a:xfrm>
          <a:custGeom>
            <a:avLst/>
            <a:gdLst/>
            <a:ahLst/>
            <a:cxnLst/>
            <a:rect l="l" t="t" r="r" b="b"/>
            <a:pathLst>
              <a:path w="4314021" h="2015824">
                <a:moveTo>
                  <a:pt x="0" y="0"/>
                </a:moveTo>
                <a:lnTo>
                  <a:pt x="4314020" y="0"/>
                </a:lnTo>
                <a:lnTo>
                  <a:pt x="4314020" y="2015825"/>
                </a:lnTo>
                <a:lnTo>
                  <a:pt x="0" y="20158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9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6469221" y="8695872"/>
            <a:ext cx="4314021" cy="2015824"/>
          </a:xfrm>
          <a:custGeom>
            <a:avLst/>
            <a:gdLst/>
            <a:ahLst/>
            <a:cxnLst/>
            <a:rect l="l" t="t" r="r" b="b"/>
            <a:pathLst>
              <a:path w="4314021" h="2015824">
                <a:moveTo>
                  <a:pt x="0" y="0"/>
                </a:moveTo>
                <a:lnTo>
                  <a:pt x="4314021" y="0"/>
                </a:lnTo>
                <a:lnTo>
                  <a:pt x="4314021" y="2015824"/>
                </a:lnTo>
                <a:lnTo>
                  <a:pt x="0" y="2015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9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 rot="1068934">
            <a:off x="15006202" y="2979174"/>
            <a:ext cx="6486476" cy="7806481"/>
          </a:xfrm>
          <a:custGeom>
            <a:avLst/>
            <a:gdLst/>
            <a:ahLst/>
            <a:cxnLst/>
            <a:rect l="l" t="t" r="r" b="b"/>
            <a:pathLst>
              <a:path w="6486476" h="7806481">
                <a:moveTo>
                  <a:pt x="0" y="0"/>
                </a:moveTo>
                <a:lnTo>
                  <a:pt x="6486476" y="0"/>
                </a:lnTo>
                <a:lnTo>
                  <a:pt x="6486476" y="7806481"/>
                </a:lnTo>
                <a:lnTo>
                  <a:pt x="0" y="78064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3146547" y="-828292"/>
            <a:ext cx="2240988" cy="2708887"/>
          </a:xfrm>
          <a:custGeom>
            <a:avLst/>
            <a:gdLst/>
            <a:ahLst/>
            <a:cxnLst/>
            <a:rect l="l" t="t" r="r" b="b"/>
            <a:pathLst>
              <a:path w="2240988" h="2708887">
                <a:moveTo>
                  <a:pt x="0" y="0"/>
                </a:moveTo>
                <a:lnTo>
                  <a:pt x="2240988" y="0"/>
                </a:lnTo>
                <a:lnTo>
                  <a:pt x="2240988" y="2708887"/>
                </a:lnTo>
                <a:lnTo>
                  <a:pt x="0" y="270888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1624829" y="7646384"/>
            <a:ext cx="4386022" cy="4114800"/>
          </a:xfrm>
          <a:custGeom>
            <a:avLst/>
            <a:gdLst/>
            <a:ahLst/>
            <a:cxnLst/>
            <a:rect l="l" t="t" r="r" b="b"/>
            <a:pathLst>
              <a:path w="4386022" h="4114800">
                <a:moveTo>
                  <a:pt x="0" y="0"/>
                </a:moveTo>
                <a:lnTo>
                  <a:pt x="4386022" y="0"/>
                </a:lnTo>
                <a:lnTo>
                  <a:pt x="43860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11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256575"/>
              </p:ext>
            </p:extLst>
          </p:nvPr>
        </p:nvGraphicFramePr>
        <p:xfrm>
          <a:off x="4355437" y="3590094"/>
          <a:ext cx="9462403" cy="4056290"/>
        </p:xfrm>
        <a:graphic>
          <a:graphicData uri="http://schemas.openxmlformats.org/drawingml/2006/table">
            <a:tbl>
              <a:tblPr/>
              <a:tblGrid>
                <a:gridCol w="2187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1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36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2874">
                <a:tc>
                  <a:txBody>
                    <a:bodyPr/>
                    <a:lstStyle/>
                    <a:p>
                      <a:pPr algn="ctr">
                        <a:lnSpc>
                          <a:spcPts val="2870"/>
                        </a:lnSpc>
                        <a:defRPr/>
                      </a:pPr>
                      <a:r>
                        <a:rPr lang="en-US" sz="2050" b="1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S.NO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0"/>
                        </a:lnSpc>
                        <a:defRPr/>
                      </a:pPr>
                      <a:r>
                        <a:rPr lang="en-US" sz="2050" b="1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0"/>
                        </a:lnSpc>
                        <a:defRPr/>
                      </a:pPr>
                      <a:r>
                        <a:rPr lang="en-US" sz="2050" b="1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REGISTOR NUMBER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2874">
                <a:tc>
                  <a:txBody>
                    <a:bodyPr/>
                    <a:lstStyle/>
                    <a:p>
                      <a:pPr algn="ctr">
                        <a:lnSpc>
                          <a:spcPts val="3710"/>
                        </a:lnSpc>
                        <a:defRPr/>
                      </a:pPr>
                      <a:r>
                        <a:rPr lang="en-US" sz="265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70"/>
                        </a:lnSpc>
                        <a:defRPr/>
                      </a:pPr>
                      <a:r>
                        <a:rPr lang="en-US" sz="2550" dirty="0" err="1">
                          <a:solidFill>
                            <a:srgbClr val="000000"/>
                          </a:solidFill>
                          <a:latin typeface="Barlow"/>
                          <a:sym typeface="Barlow"/>
                        </a:rPr>
                        <a:t>B.Rajesh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70"/>
                        </a:lnSpc>
                        <a:defRPr/>
                      </a:pPr>
                      <a:r>
                        <a:rPr lang="en-US" sz="255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9923005010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0542">
                <a:tc>
                  <a:txBody>
                    <a:bodyPr/>
                    <a:lstStyle/>
                    <a:p>
                      <a:pPr algn="ctr">
                        <a:lnSpc>
                          <a:spcPts val="357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70"/>
                        </a:lnSpc>
                        <a:defRPr/>
                      </a:pPr>
                      <a:r>
                        <a:rPr lang="en-US" sz="2550" dirty="0">
                          <a:solidFill>
                            <a:srgbClr val="000000"/>
                          </a:solidFill>
                          <a:latin typeface="Barlow"/>
                          <a:sym typeface="Barlow"/>
                        </a:rPr>
                        <a:t>Krishna raj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70"/>
                        </a:lnSpc>
                        <a:defRPr/>
                      </a:pPr>
                      <a:r>
                        <a:rPr lang="en-US" sz="255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99230050286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70633" y="2089009"/>
            <a:ext cx="8346362" cy="1019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1F4A7A"/>
                </a:solidFill>
                <a:latin typeface="Chunk Five"/>
                <a:ea typeface="Chunk Five"/>
                <a:cs typeface="Chunk Five"/>
                <a:sym typeface="Chunk Five"/>
              </a:rPr>
              <a:t>Problem Statement</a:t>
            </a:r>
          </a:p>
        </p:txBody>
      </p:sp>
      <p:sp>
        <p:nvSpPr>
          <p:cNvPr id="3" name="Freeform 3"/>
          <p:cNvSpPr/>
          <p:nvPr/>
        </p:nvSpPr>
        <p:spPr>
          <a:xfrm rot="276719">
            <a:off x="14305854" y="147186"/>
            <a:ext cx="3760100" cy="2351772"/>
          </a:xfrm>
          <a:custGeom>
            <a:avLst/>
            <a:gdLst/>
            <a:ahLst/>
            <a:cxnLst/>
            <a:rect l="l" t="t" r="r" b="b"/>
            <a:pathLst>
              <a:path w="3760100" h="2351772">
                <a:moveTo>
                  <a:pt x="0" y="0"/>
                </a:moveTo>
                <a:lnTo>
                  <a:pt x="3760101" y="0"/>
                </a:lnTo>
                <a:lnTo>
                  <a:pt x="3760101" y="2351772"/>
                </a:lnTo>
                <a:lnTo>
                  <a:pt x="0" y="2351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0" y="7289831"/>
            <a:ext cx="3786618" cy="3936938"/>
          </a:xfrm>
          <a:custGeom>
            <a:avLst/>
            <a:gdLst/>
            <a:ahLst/>
            <a:cxnLst/>
            <a:rect l="l" t="t" r="r" b="b"/>
            <a:pathLst>
              <a:path w="3786618" h="3936938">
                <a:moveTo>
                  <a:pt x="0" y="0"/>
                </a:moveTo>
                <a:lnTo>
                  <a:pt x="3786618" y="0"/>
                </a:lnTo>
                <a:lnTo>
                  <a:pt x="3786618" y="3936938"/>
                </a:lnTo>
                <a:lnTo>
                  <a:pt x="0" y="39369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-511728" y="-341400"/>
            <a:ext cx="3846469" cy="3328944"/>
          </a:xfrm>
          <a:custGeom>
            <a:avLst/>
            <a:gdLst/>
            <a:ahLst/>
            <a:cxnLst/>
            <a:rect l="l" t="t" r="r" b="b"/>
            <a:pathLst>
              <a:path w="3846469" h="3328944">
                <a:moveTo>
                  <a:pt x="0" y="0"/>
                </a:moveTo>
                <a:lnTo>
                  <a:pt x="3846469" y="0"/>
                </a:lnTo>
                <a:lnTo>
                  <a:pt x="3846469" y="3328944"/>
                </a:lnTo>
                <a:lnTo>
                  <a:pt x="0" y="33289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6389524" y="8695872"/>
            <a:ext cx="4314021" cy="2015824"/>
          </a:xfrm>
          <a:custGeom>
            <a:avLst/>
            <a:gdLst/>
            <a:ahLst/>
            <a:cxnLst/>
            <a:rect l="l" t="t" r="r" b="b"/>
            <a:pathLst>
              <a:path w="4314021" h="2015824">
                <a:moveTo>
                  <a:pt x="0" y="0"/>
                </a:moveTo>
                <a:lnTo>
                  <a:pt x="4314021" y="0"/>
                </a:lnTo>
                <a:lnTo>
                  <a:pt x="4314021" y="2015824"/>
                </a:lnTo>
                <a:lnTo>
                  <a:pt x="0" y="2015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9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5181028" y="5967677"/>
            <a:ext cx="4616371" cy="5555808"/>
          </a:xfrm>
          <a:custGeom>
            <a:avLst/>
            <a:gdLst/>
            <a:ahLst/>
            <a:cxnLst/>
            <a:rect l="l" t="t" r="r" b="b"/>
            <a:pathLst>
              <a:path w="4616371" h="5555808">
                <a:moveTo>
                  <a:pt x="0" y="0"/>
                </a:moveTo>
                <a:lnTo>
                  <a:pt x="4616371" y="0"/>
                </a:lnTo>
                <a:lnTo>
                  <a:pt x="4616371" y="5555808"/>
                </a:lnTo>
                <a:lnTo>
                  <a:pt x="0" y="55558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-1510753" y="4081660"/>
            <a:ext cx="3404062" cy="4114800"/>
          </a:xfrm>
          <a:custGeom>
            <a:avLst/>
            <a:gdLst/>
            <a:ahLst/>
            <a:cxnLst/>
            <a:rect l="l" t="t" r="r" b="b"/>
            <a:pathLst>
              <a:path w="3404062" h="4114800">
                <a:moveTo>
                  <a:pt x="0" y="0"/>
                </a:moveTo>
                <a:lnTo>
                  <a:pt x="3404062" y="0"/>
                </a:lnTo>
                <a:lnTo>
                  <a:pt x="34040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27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4808188" y="8446166"/>
            <a:ext cx="2681026" cy="2515237"/>
          </a:xfrm>
          <a:custGeom>
            <a:avLst/>
            <a:gdLst/>
            <a:ahLst/>
            <a:cxnLst/>
            <a:rect l="l" t="t" r="r" b="b"/>
            <a:pathLst>
              <a:path w="2681026" h="2515237">
                <a:moveTo>
                  <a:pt x="0" y="0"/>
                </a:moveTo>
                <a:lnTo>
                  <a:pt x="2681025" y="0"/>
                </a:lnTo>
                <a:lnTo>
                  <a:pt x="2681025" y="2515237"/>
                </a:lnTo>
                <a:lnTo>
                  <a:pt x="0" y="251523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3893683" y="3722622"/>
            <a:ext cx="10323709" cy="373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1F4A7A"/>
                </a:solidFill>
                <a:latin typeface="Barlow"/>
                <a:ea typeface="Barlow"/>
                <a:cs typeface="Barlow"/>
                <a:sym typeface="Barlow"/>
              </a:rPr>
              <a:t>Lack of transparency in drug supply chain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1F4A7A"/>
                </a:solidFill>
                <a:latin typeface="Barlow"/>
                <a:ea typeface="Barlow"/>
                <a:cs typeface="Barlow"/>
                <a:sym typeface="Barlow"/>
              </a:rPr>
              <a:t>Temperature abuse during transit leads to ineffective or harmful drugs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1F4A7A"/>
                </a:solidFill>
                <a:latin typeface="Barlow"/>
                <a:ea typeface="Barlow"/>
                <a:cs typeface="Barlow"/>
                <a:sym typeface="Barlow"/>
              </a:rPr>
              <a:t>No unified system for monitoring, tracking, and certifying drug status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1F4A7A"/>
                </a:solidFill>
                <a:latin typeface="Barlow"/>
                <a:ea typeface="Barlow"/>
                <a:cs typeface="Barlow"/>
                <a:sym typeface="Barlow"/>
              </a:rPr>
              <a:t>Need for tamper-proof, verifiable, and realtime control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1F4A7A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5997407" y="2589058"/>
            <a:ext cx="4314021" cy="2015824"/>
          </a:xfrm>
          <a:custGeom>
            <a:avLst/>
            <a:gdLst/>
            <a:ahLst/>
            <a:cxnLst/>
            <a:rect l="l" t="t" r="r" b="b"/>
            <a:pathLst>
              <a:path w="4314021" h="2015824">
                <a:moveTo>
                  <a:pt x="0" y="0"/>
                </a:moveTo>
                <a:lnTo>
                  <a:pt x="4314021" y="0"/>
                </a:lnTo>
                <a:lnTo>
                  <a:pt x="4314021" y="2015824"/>
                </a:lnTo>
                <a:lnTo>
                  <a:pt x="0" y="2015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9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85241" y="2446417"/>
            <a:ext cx="10517519" cy="1019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1F4A7A"/>
                </a:solidFill>
                <a:latin typeface="Chunk Five"/>
                <a:ea typeface="Chunk Five"/>
                <a:cs typeface="Chunk Five"/>
                <a:sym typeface="Chunk Five"/>
              </a:rPr>
              <a:t>Solution </a:t>
            </a:r>
          </a:p>
        </p:txBody>
      </p:sp>
      <p:sp>
        <p:nvSpPr>
          <p:cNvPr id="3" name="Freeform 3"/>
          <p:cNvSpPr/>
          <p:nvPr/>
        </p:nvSpPr>
        <p:spPr>
          <a:xfrm rot="276719">
            <a:off x="1554314" y="-689634"/>
            <a:ext cx="3760100" cy="2351772"/>
          </a:xfrm>
          <a:custGeom>
            <a:avLst/>
            <a:gdLst/>
            <a:ahLst/>
            <a:cxnLst/>
            <a:rect l="l" t="t" r="r" b="b"/>
            <a:pathLst>
              <a:path w="3760100" h="2351772">
                <a:moveTo>
                  <a:pt x="0" y="0"/>
                </a:moveTo>
                <a:lnTo>
                  <a:pt x="3760100" y="0"/>
                </a:lnTo>
                <a:lnTo>
                  <a:pt x="3760100" y="2351772"/>
                </a:lnTo>
                <a:lnTo>
                  <a:pt x="0" y="2351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5060162" y="6139060"/>
            <a:ext cx="5251266" cy="5459728"/>
          </a:xfrm>
          <a:custGeom>
            <a:avLst/>
            <a:gdLst/>
            <a:ahLst/>
            <a:cxnLst/>
            <a:rect l="l" t="t" r="r" b="b"/>
            <a:pathLst>
              <a:path w="5251266" h="5459728">
                <a:moveTo>
                  <a:pt x="0" y="0"/>
                </a:moveTo>
                <a:lnTo>
                  <a:pt x="5251266" y="0"/>
                </a:lnTo>
                <a:lnTo>
                  <a:pt x="5251266" y="5459728"/>
                </a:lnTo>
                <a:lnTo>
                  <a:pt x="0" y="54597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5336066" y="2070883"/>
            <a:ext cx="3846469" cy="3328944"/>
          </a:xfrm>
          <a:custGeom>
            <a:avLst/>
            <a:gdLst/>
            <a:ahLst/>
            <a:cxnLst/>
            <a:rect l="l" t="t" r="r" b="b"/>
            <a:pathLst>
              <a:path w="3846469" h="3328944">
                <a:moveTo>
                  <a:pt x="0" y="0"/>
                </a:moveTo>
                <a:lnTo>
                  <a:pt x="3846468" y="0"/>
                </a:lnTo>
                <a:lnTo>
                  <a:pt x="3846468" y="3328944"/>
                </a:lnTo>
                <a:lnTo>
                  <a:pt x="0" y="33289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9477788" y="8577460"/>
            <a:ext cx="4314021" cy="2015824"/>
          </a:xfrm>
          <a:custGeom>
            <a:avLst/>
            <a:gdLst/>
            <a:ahLst/>
            <a:cxnLst/>
            <a:rect l="l" t="t" r="r" b="b"/>
            <a:pathLst>
              <a:path w="4314021" h="2015824">
                <a:moveTo>
                  <a:pt x="0" y="0"/>
                </a:moveTo>
                <a:lnTo>
                  <a:pt x="4314021" y="0"/>
                </a:lnTo>
                <a:lnTo>
                  <a:pt x="4314021" y="2015824"/>
                </a:lnTo>
                <a:lnTo>
                  <a:pt x="0" y="2015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9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-1016247" y="6480396"/>
            <a:ext cx="4616371" cy="5555808"/>
          </a:xfrm>
          <a:custGeom>
            <a:avLst/>
            <a:gdLst/>
            <a:ahLst/>
            <a:cxnLst/>
            <a:rect l="l" t="t" r="r" b="b"/>
            <a:pathLst>
              <a:path w="4616371" h="5555808">
                <a:moveTo>
                  <a:pt x="0" y="0"/>
                </a:moveTo>
                <a:lnTo>
                  <a:pt x="4616372" y="0"/>
                </a:lnTo>
                <a:lnTo>
                  <a:pt x="4616372" y="5555808"/>
                </a:lnTo>
                <a:lnTo>
                  <a:pt x="0" y="55558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-1510753" y="1839436"/>
            <a:ext cx="3404062" cy="4114800"/>
          </a:xfrm>
          <a:custGeom>
            <a:avLst/>
            <a:gdLst/>
            <a:ahLst/>
            <a:cxnLst/>
            <a:rect l="l" t="t" r="r" b="b"/>
            <a:pathLst>
              <a:path w="3404062" h="4114800">
                <a:moveTo>
                  <a:pt x="0" y="0"/>
                </a:moveTo>
                <a:lnTo>
                  <a:pt x="3404062" y="0"/>
                </a:lnTo>
                <a:lnTo>
                  <a:pt x="34040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27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893309" y="8446166"/>
            <a:ext cx="2681026" cy="2515237"/>
          </a:xfrm>
          <a:custGeom>
            <a:avLst/>
            <a:gdLst/>
            <a:ahLst/>
            <a:cxnLst/>
            <a:rect l="l" t="t" r="r" b="b"/>
            <a:pathLst>
              <a:path w="2681026" h="2515237">
                <a:moveTo>
                  <a:pt x="0" y="0"/>
                </a:moveTo>
                <a:lnTo>
                  <a:pt x="2681026" y="0"/>
                </a:lnTo>
                <a:lnTo>
                  <a:pt x="2681026" y="2515237"/>
                </a:lnTo>
                <a:lnTo>
                  <a:pt x="0" y="251523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4343596" y="4046592"/>
            <a:ext cx="11427362" cy="3748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4679" lvl="1" indent="-382340" algn="l">
              <a:lnSpc>
                <a:spcPts val="4958"/>
              </a:lnSpc>
              <a:buFont typeface="Arial"/>
              <a:buChar char="•"/>
            </a:pPr>
            <a:r>
              <a:rPr lang="en-US" sz="3541">
                <a:solidFill>
                  <a:srgbClr val="1F4A7A"/>
                </a:solidFill>
                <a:latin typeface="Barlow"/>
                <a:ea typeface="Barlow"/>
                <a:cs typeface="Barlow"/>
                <a:sym typeface="Barlow"/>
              </a:rPr>
              <a:t> End-to-end tracking: Manufacturer → FDA → Distributor → Client</a:t>
            </a:r>
          </a:p>
          <a:p>
            <a:pPr marL="764679" lvl="1" indent="-382340" algn="l">
              <a:lnSpc>
                <a:spcPts val="4958"/>
              </a:lnSpc>
              <a:buFont typeface="Arial"/>
              <a:buChar char="•"/>
            </a:pPr>
            <a:r>
              <a:rPr lang="en-US" sz="3541">
                <a:solidFill>
                  <a:srgbClr val="1F4A7A"/>
                </a:solidFill>
                <a:latin typeface="Barlow"/>
                <a:ea typeface="Barlow"/>
                <a:cs typeface="Barlow"/>
                <a:sym typeface="Barlow"/>
              </a:rPr>
              <a:t>  Live telemetry from IoT sensors (ESP32 + DHT11)</a:t>
            </a:r>
          </a:p>
          <a:p>
            <a:pPr marL="764679" lvl="1" indent="-382340" algn="l">
              <a:lnSpc>
                <a:spcPts val="4958"/>
              </a:lnSpc>
              <a:buFont typeface="Arial"/>
              <a:buChar char="•"/>
            </a:pPr>
            <a:r>
              <a:rPr lang="en-US" sz="3541">
                <a:solidFill>
                  <a:srgbClr val="1F4A7A"/>
                </a:solidFill>
                <a:latin typeface="Barlow"/>
                <a:ea typeface="Barlow"/>
                <a:cs typeface="Barlow"/>
                <a:sym typeface="Barlow"/>
              </a:rPr>
              <a:t> GPS location tracking for every step</a:t>
            </a:r>
          </a:p>
          <a:p>
            <a:pPr marL="764679" lvl="1" indent="-382340" algn="l">
              <a:lnSpc>
                <a:spcPts val="4958"/>
              </a:lnSpc>
              <a:buFont typeface="Arial"/>
              <a:buChar char="•"/>
            </a:pPr>
            <a:r>
              <a:rPr lang="en-US" sz="3541">
                <a:solidFill>
                  <a:srgbClr val="1F4A7A"/>
                </a:solidFill>
                <a:latin typeface="Barlow"/>
                <a:ea typeface="Barlow"/>
                <a:cs typeface="Barlow"/>
                <a:sym typeface="Barlow"/>
              </a:rPr>
              <a:t> Hash-chained events ensure data integrity</a:t>
            </a:r>
          </a:p>
          <a:p>
            <a:pPr marL="764679" lvl="1" indent="-382340" algn="l">
              <a:lnSpc>
                <a:spcPts val="4958"/>
              </a:lnSpc>
              <a:buFont typeface="Arial"/>
              <a:buChar char="•"/>
            </a:pPr>
            <a:r>
              <a:rPr lang="en-US" sz="3541">
                <a:solidFill>
                  <a:srgbClr val="1F4A7A"/>
                </a:solidFill>
                <a:latin typeface="Barlow"/>
                <a:ea typeface="Barlow"/>
                <a:cs typeface="Barlow"/>
                <a:sym typeface="Barlow"/>
              </a:rPr>
              <a:t> Supabase (MYSQL + Realtime API) as backend</a:t>
            </a:r>
          </a:p>
        </p:txBody>
      </p:sp>
      <p:sp>
        <p:nvSpPr>
          <p:cNvPr id="11" name="Freeform 11"/>
          <p:cNvSpPr/>
          <p:nvPr/>
        </p:nvSpPr>
        <p:spPr>
          <a:xfrm>
            <a:off x="13791809" y="-687891"/>
            <a:ext cx="4314021" cy="2015824"/>
          </a:xfrm>
          <a:custGeom>
            <a:avLst/>
            <a:gdLst/>
            <a:ahLst/>
            <a:cxnLst/>
            <a:rect l="l" t="t" r="r" b="b"/>
            <a:pathLst>
              <a:path w="4314021" h="2015824">
                <a:moveTo>
                  <a:pt x="0" y="0"/>
                </a:moveTo>
                <a:lnTo>
                  <a:pt x="4314020" y="0"/>
                </a:lnTo>
                <a:lnTo>
                  <a:pt x="4314020" y="2015824"/>
                </a:lnTo>
                <a:lnTo>
                  <a:pt x="0" y="2015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9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289831"/>
            <a:ext cx="3786618" cy="3936938"/>
          </a:xfrm>
          <a:custGeom>
            <a:avLst/>
            <a:gdLst/>
            <a:ahLst/>
            <a:cxnLst/>
            <a:rect l="l" t="t" r="r" b="b"/>
            <a:pathLst>
              <a:path w="3786618" h="3936938">
                <a:moveTo>
                  <a:pt x="0" y="0"/>
                </a:moveTo>
                <a:lnTo>
                  <a:pt x="3786618" y="0"/>
                </a:lnTo>
                <a:lnTo>
                  <a:pt x="3786618" y="3936938"/>
                </a:lnTo>
                <a:lnTo>
                  <a:pt x="0" y="39369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-159147">
            <a:off x="14951387" y="-575614"/>
            <a:ext cx="3846469" cy="3328944"/>
          </a:xfrm>
          <a:custGeom>
            <a:avLst/>
            <a:gdLst/>
            <a:ahLst/>
            <a:cxnLst/>
            <a:rect l="l" t="t" r="r" b="b"/>
            <a:pathLst>
              <a:path w="3846469" h="3328944">
                <a:moveTo>
                  <a:pt x="0" y="0"/>
                </a:moveTo>
                <a:lnTo>
                  <a:pt x="3846469" y="0"/>
                </a:lnTo>
                <a:lnTo>
                  <a:pt x="3846469" y="3328943"/>
                </a:lnTo>
                <a:lnTo>
                  <a:pt x="0" y="33289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5181028" y="5967677"/>
            <a:ext cx="4616371" cy="5555808"/>
          </a:xfrm>
          <a:custGeom>
            <a:avLst/>
            <a:gdLst/>
            <a:ahLst/>
            <a:cxnLst/>
            <a:rect l="l" t="t" r="r" b="b"/>
            <a:pathLst>
              <a:path w="4616371" h="5555808">
                <a:moveTo>
                  <a:pt x="0" y="0"/>
                </a:moveTo>
                <a:lnTo>
                  <a:pt x="4616371" y="0"/>
                </a:lnTo>
                <a:lnTo>
                  <a:pt x="4616371" y="5555808"/>
                </a:lnTo>
                <a:lnTo>
                  <a:pt x="0" y="55558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-1510753" y="4081660"/>
            <a:ext cx="3404062" cy="4114800"/>
          </a:xfrm>
          <a:custGeom>
            <a:avLst/>
            <a:gdLst/>
            <a:ahLst/>
            <a:cxnLst/>
            <a:rect l="l" t="t" r="r" b="b"/>
            <a:pathLst>
              <a:path w="3404062" h="4114800">
                <a:moveTo>
                  <a:pt x="0" y="0"/>
                </a:moveTo>
                <a:lnTo>
                  <a:pt x="3404062" y="0"/>
                </a:lnTo>
                <a:lnTo>
                  <a:pt x="34040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7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4808188" y="8446166"/>
            <a:ext cx="2681026" cy="2515237"/>
          </a:xfrm>
          <a:custGeom>
            <a:avLst/>
            <a:gdLst/>
            <a:ahLst/>
            <a:cxnLst/>
            <a:rect l="l" t="t" r="r" b="b"/>
            <a:pathLst>
              <a:path w="2681026" h="2515237">
                <a:moveTo>
                  <a:pt x="0" y="0"/>
                </a:moveTo>
                <a:lnTo>
                  <a:pt x="2681025" y="0"/>
                </a:lnTo>
                <a:lnTo>
                  <a:pt x="2681025" y="2515237"/>
                </a:lnTo>
                <a:lnTo>
                  <a:pt x="0" y="25152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6148700" y="3565348"/>
            <a:ext cx="4314021" cy="2015824"/>
          </a:xfrm>
          <a:custGeom>
            <a:avLst/>
            <a:gdLst/>
            <a:ahLst/>
            <a:cxnLst/>
            <a:rect l="l" t="t" r="r" b="b"/>
            <a:pathLst>
              <a:path w="4314021" h="2015824">
                <a:moveTo>
                  <a:pt x="0" y="0"/>
                </a:moveTo>
                <a:lnTo>
                  <a:pt x="4314021" y="0"/>
                </a:lnTo>
                <a:lnTo>
                  <a:pt x="4314021" y="2015824"/>
                </a:lnTo>
                <a:lnTo>
                  <a:pt x="0" y="20158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29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2561536" y="1728942"/>
            <a:ext cx="12314883" cy="7704461"/>
          </a:xfrm>
          <a:custGeom>
            <a:avLst/>
            <a:gdLst/>
            <a:ahLst/>
            <a:cxnLst/>
            <a:rect l="l" t="t" r="r" b="b"/>
            <a:pathLst>
              <a:path w="12314883" h="7704461">
                <a:moveTo>
                  <a:pt x="0" y="0"/>
                </a:moveTo>
                <a:lnTo>
                  <a:pt x="12314884" y="0"/>
                </a:lnTo>
                <a:lnTo>
                  <a:pt x="12314884" y="7704460"/>
                </a:lnTo>
                <a:lnTo>
                  <a:pt x="0" y="770446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0867007" y="8745581"/>
            <a:ext cx="4314021" cy="2015824"/>
          </a:xfrm>
          <a:custGeom>
            <a:avLst/>
            <a:gdLst/>
            <a:ahLst/>
            <a:cxnLst/>
            <a:rect l="l" t="t" r="r" b="b"/>
            <a:pathLst>
              <a:path w="4314021" h="2015824">
                <a:moveTo>
                  <a:pt x="0" y="0"/>
                </a:moveTo>
                <a:lnTo>
                  <a:pt x="4314021" y="0"/>
                </a:lnTo>
                <a:lnTo>
                  <a:pt x="4314021" y="2015824"/>
                </a:lnTo>
                <a:lnTo>
                  <a:pt x="0" y="20158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29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4670759" y="253644"/>
            <a:ext cx="8700492" cy="1292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1F4A7A"/>
                </a:solidFill>
                <a:latin typeface="Chunk Five"/>
                <a:ea typeface="Chunk Five"/>
                <a:cs typeface="Chunk Five"/>
                <a:sym typeface="Chunk Five"/>
              </a:rPr>
              <a:t>System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54954" y="1883094"/>
            <a:ext cx="6545941" cy="1019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1F4A7A"/>
                </a:solidFill>
                <a:latin typeface="Chunk Five"/>
                <a:ea typeface="Chunk Five"/>
                <a:cs typeface="Chunk Five"/>
                <a:sym typeface="Chunk Five"/>
              </a:rPr>
              <a:t>Core Features</a:t>
            </a:r>
          </a:p>
        </p:txBody>
      </p:sp>
      <p:sp>
        <p:nvSpPr>
          <p:cNvPr id="3" name="Freeform 3"/>
          <p:cNvSpPr/>
          <p:nvPr/>
        </p:nvSpPr>
        <p:spPr>
          <a:xfrm>
            <a:off x="-1863289" y="6105959"/>
            <a:ext cx="5439299" cy="5655225"/>
          </a:xfrm>
          <a:custGeom>
            <a:avLst/>
            <a:gdLst/>
            <a:ahLst/>
            <a:cxnLst/>
            <a:rect l="l" t="t" r="r" b="b"/>
            <a:pathLst>
              <a:path w="5439299" h="5655225">
                <a:moveTo>
                  <a:pt x="0" y="0"/>
                </a:moveTo>
                <a:lnTo>
                  <a:pt x="5439299" y="0"/>
                </a:lnTo>
                <a:lnTo>
                  <a:pt x="5439299" y="5655225"/>
                </a:lnTo>
                <a:lnTo>
                  <a:pt x="0" y="5655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rot="-3954952">
            <a:off x="3109014" y="1271818"/>
            <a:ext cx="2134427" cy="1847249"/>
          </a:xfrm>
          <a:custGeom>
            <a:avLst/>
            <a:gdLst/>
            <a:ahLst/>
            <a:cxnLst/>
            <a:rect l="l" t="t" r="r" b="b"/>
            <a:pathLst>
              <a:path w="2134427" h="1847249">
                <a:moveTo>
                  <a:pt x="0" y="0"/>
                </a:moveTo>
                <a:lnTo>
                  <a:pt x="2134427" y="0"/>
                </a:lnTo>
                <a:lnTo>
                  <a:pt x="2134427" y="1847249"/>
                </a:lnTo>
                <a:lnTo>
                  <a:pt x="0" y="18472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6276442" y="-325743"/>
            <a:ext cx="2240988" cy="2708887"/>
          </a:xfrm>
          <a:custGeom>
            <a:avLst/>
            <a:gdLst/>
            <a:ahLst/>
            <a:cxnLst/>
            <a:rect l="l" t="t" r="r" b="b"/>
            <a:pathLst>
              <a:path w="2240988" h="2708887">
                <a:moveTo>
                  <a:pt x="0" y="0"/>
                </a:moveTo>
                <a:lnTo>
                  <a:pt x="2240988" y="0"/>
                </a:lnTo>
                <a:lnTo>
                  <a:pt x="2240988" y="2708886"/>
                </a:lnTo>
                <a:lnTo>
                  <a:pt x="0" y="27088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938215" y="3953309"/>
            <a:ext cx="16349785" cy="424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F4A7A"/>
                </a:solidFill>
                <a:latin typeface="Canva Sans"/>
                <a:ea typeface="Canva Sans"/>
                <a:cs typeface="Canva Sans"/>
                <a:sym typeface="Canva Sans"/>
              </a:rPr>
              <a:t> End-to-end chain-of-custody tracking with role-based access (Manufacturer → FDA → Distributor → Client)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F4A7A"/>
                </a:solidFill>
                <a:latin typeface="Canva Sans"/>
                <a:ea typeface="Canva Sans"/>
                <a:cs typeface="Canva Sans"/>
                <a:sym typeface="Canva Sans"/>
              </a:rPr>
              <a:t> Live telemetry: Temperature, humidity, and GPS from ESP32+DHT11 sensor every 10 seconds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F4A7A"/>
                </a:solidFill>
                <a:latin typeface="Canva Sans"/>
                <a:ea typeface="Canva Sans"/>
                <a:cs typeface="Canva Sans"/>
                <a:sym typeface="Canva Sans"/>
              </a:rPr>
              <a:t> Tamper-proof event logging using SHA-256 hash-chained records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F4A7A"/>
                </a:solidFill>
                <a:latin typeface="Canva Sans"/>
                <a:ea typeface="Canva Sans"/>
                <a:cs typeface="Canva Sans"/>
                <a:sym typeface="Canva Sans"/>
              </a:rPr>
              <a:t> Realtime dashboard with charts, map, alerts, and CSV export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endParaRPr lang="en-US" sz="3000">
              <a:solidFill>
                <a:srgbClr val="1F4A7A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1F4A7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55611" y="829960"/>
            <a:ext cx="10852577" cy="1120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92"/>
              </a:lnSpc>
            </a:pPr>
            <a:r>
              <a:rPr lang="en-US" sz="7518">
                <a:solidFill>
                  <a:srgbClr val="1F4A7A"/>
                </a:solidFill>
                <a:latin typeface="Chunk Five"/>
                <a:ea typeface="Chunk Five"/>
                <a:cs typeface="Chunk Five"/>
                <a:sym typeface="Chunk Five"/>
              </a:rPr>
              <a:t>Realtime Tracker View </a:t>
            </a:r>
          </a:p>
        </p:txBody>
      </p:sp>
      <p:sp>
        <p:nvSpPr>
          <p:cNvPr id="3" name="Freeform 3"/>
          <p:cNvSpPr/>
          <p:nvPr/>
        </p:nvSpPr>
        <p:spPr>
          <a:xfrm>
            <a:off x="2270961" y="2788488"/>
            <a:ext cx="7417361" cy="4177328"/>
          </a:xfrm>
          <a:custGeom>
            <a:avLst/>
            <a:gdLst/>
            <a:ahLst/>
            <a:cxnLst/>
            <a:rect l="l" t="t" r="r" b="b"/>
            <a:pathLst>
              <a:path w="7417361" h="4177328">
                <a:moveTo>
                  <a:pt x="0" y="0"/>
                </a:moveTo>
                <a:lnTo>
                  <a:pt x="7417362" y="0"/>
                </a:lnTo>
                <a:lnTo>
                  <a:pt x="7417362" y="4177328"/>
                </a:lnTo>
                <a:lnTo>
                  <a:pt x="0" y="4177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0193807" y="2788488"/>
            <a:ext cx="6898921" cy="4177328"/>
          </a:xfrm>
          <a:custGeom>
            <a:avLst/>
            <a:gdLst/>
            <a:ahLst/>
            <a:cxnLst/>
            <a:rect l="l" t="t" r="r" b="b"/>
            <a:pathLst>
              <a:path w="6898921" h="4177328">
                <a:moveTo>
                  <a:pt x="0" y="0"/>
                </a:moveTo>
                <a:lnTo>
                  <a:pt x="6898921" y="0"/>
                </a:lnTo>
                <a:lnTo>
                  <a:pt x="6898921" y="4177328"/>
                </a:lnTo>
                <a:lnTo>
                  <a:pt x="0" y="4177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697" t="-137434" r="-175634" b="-5957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-848613" y="7346541"/>
            <a:ext cx="13306312" cy="1047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3"/>
              </a:lnSpc>
            </a:pPr>
            <a:r>
              <a:rPr lang="en-US" sz="3002">
                <a:solidFill>
                  <a:srgbClr val="1F4A7A"/>
                </a:solidFill>
                <a:latin typeface="Canva Sans"/>
                <a:ea typeface="Canva Sans"/>
                <a:cs typeface="Canva Sans"/>
                <a:sym typeface="Canva Sans"/>
              </a:rPr>
              <a:t>For the Static Data we used the Dataset</a:t>
            </a:r>
          </a:p>
          <a:p>
            <a:pPr algn="ctr">
              <a:lnSpc>
                <a:spcPts val="4203"/>
              </a:lnSpc>
            </a:pPr>
            <a:endParaRPr lang="en-US" sz="3002">
              <a:solidFill>
                <a:srgbClr val="1F4A7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-2331570" y="8491799"/>
            <a:ext cx="15974837" cy="478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4"/>
              </a:lnSpc>
              <a:spcBef>
                <a:spcPct val="0"/>
              </a:spcBef>
            </a:pPr>
            <a:r>
              <a:rPr lang="en-US" sz="2517" u="sng" dirty="0">
                <a:solidFill>
                  <a:srgbClr val="000000"/>
                </a:solidFill>
                <a:latin typeface="Chunk Five"/>
                <a:ea typeface="Chunk Five"/>
                <a:cs typeface="Chunk Five"/>
                <a:sym typeface="Chunk Five"/>
                <a:hlinkClick r:id="rId3" tooltip="https://onedrive.live.com/:x:/g/personal/B45241BAA64C1C66/EQD5s6cqBMVKhF1MsfSRRoQB3hn9ZyjQXm1Tes4UcLi1QA?resid=B45241BAA64C1C66!sa7b3f900042a4ac5845d4cb1f4914684&amp;ithint=file%2Cxlsx&amp;e=ykjNQH&amp;migratedtospo=true&amp;redeem=aHR0cHM6Ly8xZHJ2Lm1zL3gvYy9iNDUyNDFiYWE2NGMxYzY2L0VRRDVzNmNxQk1WS2hGMU1zZlNSUm9RQjNobjlaeWpRWG0xVGVzNFVjTGkxUUE_ZT15a2pOUUg"/>
              </a:rPr>
              <a:t>sensors_2025-11-07T17-10-53-789Z.csv.xlsx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70961" y="8044981"/>
            <a:ext cx="624245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link 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57787" y="2493692"/>
            <a:ext cx="9172426" cy="1019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1F4A7A"/>
                </a:solidFill>
                <a:latin typeface="Chunk Five"/>
                <a:ea typeface="Chunk Five"/>
                <a:cs typeface="Chunk Five"/>
                <a:sym typeface="Chunk Five"/>
              </a:rPr>
              <a:t>Conclusion</a:t>
            </a:r>
          </a:p>
        </p:txBody>
      </p:sp>
      <p:sp>
        <p:nvSpPr>
          <p:cNvPr id="3" name="Freeform 3"/>
          <p:cNvSpPr/>
          <p:nvPr/>
        </p:nvSpPr>
        <p:spPr>
          <a:xfrm>
            <a:off x="-894534" y="-635772"/>
            <a:ext cx="3846469" cy="3328944"/>
          </a:xfrm>
          <a:custGeom>
            <a:avLst/>
            <a:gdLst/>
            <a:ahLst/>
            <a:cxnLst/>
            <a:rect l="l" t="t" r="r" b="b"/>
            <a:pathLst>
              <a:path w="3846469" h="3328944">
                <a:moveTo>
                  <a:pt x="0" y="0"/>
                </a:moveTo>
                <a:lnTo>
                  <a:pt x="3846468" y="0"/>
                </a:lnTo>
                <a:lnTo>
                  <a:pt x="3846468" y="3328944"/>
                </a:lnTo>
                <a:lnTo>
                  <a:pt x="0" y="33289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rot="1412538">
            <a:off x="-3048684" y="6414412"/>
            <a:ext cx="6097367" cy="7338188"/>
          </a:xfrm>
          <a:custGeom>
            <a:avLst/>
            <a:gdLst/>
            <a:ahLst/>
            <a:cxnLst/>
            <a:rect l="l" t="t" r="r" b="b"/>
            <a:pathLst>
              <a:path w="6097367" h="7338188">
                <a:moveTo>
                  <a:pt x="0" y="0"/>
                </a:moveTo>
                <a:lnTo>
                  <a:pt x="6097368" y="0"/>
                </a:lnTo>
                <a:lnTo>
                  <a:pt x="6097368" y="7338188"/>
                </a:lnTo>
                <a:lnTo>
                  <a:pt x="0" y="73381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rot="3508185">
            <a:off x="-1702031" y="2070883"/>
            <a:ext cx="3404062" cy="4114800"/>
          </a:xfrm>
          <a:custGeom>
            <a:avLst/>
            <a:gdLst/>
            <a:ahLst/>
            <a:cxnLst/>
            <a:rect l="l" t="t" r="r" b="b"/>
            <a:pathLst>
              <a:path w="3404062" h="4114800">
                <a:moveTo>
                  <a:pt x="0" y="0"/>
                </a:moveTo>
                <a:lnTo>
                  <a:pt x="3404062" y="0"/>
                </a:lnTo>
                <a:lnTo>
                  <a:pt x="34040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2185876" y="4090183"/>
            <a:ext cx="14733379" cy="3033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57"/>
              </a:lnSpc>
            </a:pPr>
            <a:r>
              <a:rPr lang="en-US" sz="2184" dirty="0" err="1">
                <a:solidFill>
                  <a:srgbClr val="1F4A7A"/>
                </a:solidFill>
                <a:latin typeface="Canva Sans"/>
                <a:ea typeface="Canva Sans"/>
                <a:cs typeface="Canva Sans"/>
                <a:sym typeface="Canva Sans"/>
              </a:rPr>
              <a:t>PharmaChain</a:t>
            </a:r>
            <a:r>
              <a:rPr lang="en-US" sz="2184" dirty="0">
                <a:solidFill>
                  <a:srgbClr val="1F4A7A"/>
                </a:solidFill>
                <a:latin typeface="Canva Sans"/>
                <a:ea typeface="Canva Sans"/>
                <a:cs typeface="Canva Sans"/>
                <a:sym typeface="Canva Sans"/>
              </a:rPr>
              <a:t> delivers a secure, scalable, and transparent cold-chain tracking solution for pharmaceuticals, ensuring temperature integrity and regulatory compliance throughout the supply chain. By integrating IoT sensors, real-time telemetry, role-based workflows, and blockchain-inspired hash verification, it establishes trust across all stakeholders—Manufacturer, FDA, Distributor, and Client. This system not only minimizes the risk of spoiled or tampered drugs but also sets a foundation for modern, data-driven healthcare logistics.</a:t>
            </a:r>
          </a:p>
          <a:p>
            <a:pPr algn="just">
              <a:lnSpc>
                <a:spcPts val="3057"/>
              </a:lnSpc>
            </a:pPr>
            <a:endParaRPr lang="en-US" sz="2184" dirty="0">
              <a:solidFill>
                <a:srgbClr val="1F4A7A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3057"/>
              </a:lnSpc>
            </a:pPr>
            <a:endParaRPr lang="en-US" sz="2184" dirty="0">
              <a:solidFill>
                <a:srgbClr val="1F4A7A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3057"/>
              </a:lnSpc>
            </a:pPr>
            <a:endParaRPr lang="en-US" sz="2184" dirty="0">
              <a:solidFill>
                <a:srgbClr val="1F4A7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02607" y="2709412"/>
            <a:ext cx="11482787" cy="4906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26"/>
              </a:lnSpc>
            </a:pPr>
            <a:r>
              <a:rPr lang="en-US" sz="17965">
                <a:solidFill>
                  <a:srgbClr val="1F4A7A"/>
                </a:solidFill>
                <a:latin typeface="Chunk Five"/>
                <a:ea typeface="Chunk Five"/>
                <a:cs typeface="Chunk Five"/>
                <a:sym typeface="Chunk Five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13969852" y="187623"/>
            <a:ext cx="6578895" cy="4114800"/>
          </a:xfrm>
          <a:custGeom>
            <a:avLst/>
            <a:gdLst/>
            <a:ahLst/>
            <a:cxnLst/>
            <a:rect l="l" t="t" r="r" b="b"/>
            <a:pathLst>
              <a:path w="6578895" h="4114800">
                <a:moveTo>
                  <a:pt x="0" y="0"/>
                </a:moveTo>
                <a:lnTo>
                  <a:pt x="6578896" y="0"/>
                </a:lnTo>
                <a:lnTo>
                  <a:pt x="65788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-330239" y="5868260"/>
            <a:ext cx="5439299" cy="5655225"/>
          </a:xfrm>
          <a:custGeom>
            <a:avLst/>
            <a:gdLst/>
            <a:ahLst/>
            <a:cxnLst/>
            <a:rect l="l" t="t" r="r" b="b"/>
            <a:pathLst>
              <a:path w="5439299" h="5655225">
                <a:moveTo>
                  <a:pt x="0" y="0"/>
                </a:moveTo>
                <a:lnTo>
                  <a:pt x="5439298" y="0"/>
                </a:lnTo>
                <a:lnTo>
                  <a:pt x="5439298" y="5655225"/>
                </a:lnTo>
                <a:lnTo>
                  <a:pt x="0" y="56552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-1348548" y="-739886"/>
            <a:ext cx="5668538" cy="4905862"/>
          </a:xfrm>
          <a:custGeom>
            <a:avLst/>
            <a:gdLst/>
            <a:ahLst/>
            <a:cxnLst/>
            <a:rect l="l" t="t" r="r" b="b"/>
            <a:pathLst>
              <a:path w="5668538" h="4905862">
                <a:moveTo>
                  <a:pt x="0" y="0"/>
                </a:moveTo>
                <a:lnTo>
                  <a:pt x="5668538" y="0"/>
                </a:lnTo>
                <a:lnTo>
                  <a:pt x="5668538" y="4905862"/>
                </a:lnTo>
                <a:lnTo>
                  <a:pt x="0" y="49058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6986990" y="-337785"/>
            <a:ext cx="4314021" cy="2015824"/>
          </a:xfrm>
          <a:custGeom>
            <a:avLst/>
            <a:gdLst/>
            <a:ahLst/>
            <a:cxnLst/>
            <a:rect l="l" t="t" r="r" b="b"/>
            <a:pathLst>
              <a:path w="4314021" h="2015824">
                <a:moveTo>
                  <a:pt x="0" y="0"/>
                </a:moveTo>
                <a:lnTo>
                  <a:pt x="4314020" y="0"/>
                </a:lnTo>
                <a:lnTo>
                  <a:pt x="4314020" y="2015824"/>
                </a:lnTo>
                <a:lnTo>
                  <a:pt x="0" y="2015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9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6469221" y="8695872"/>
            <a:ext cx="4314021" cy="2015824"/>
          </a:xfrm>
          <a:custGeom>
            <a:avLst/>
            <a:gdLst/>
            <a:ahLst/>
            <a:cxnLst/>
            <a:rect l="l" t="t" r="r" b="b"/>
            <a:pathLst>
              <a:path w="4314021" h="2015824">
                <a:moveTo>
                  <a:pt x="0" y="0"/>
                </a:moveTo>
                <a:lnTo>
                  <a:pt x="4314021" y="0"/>
                </a:lnTo>
                <a:lnTo>
                  <a:pt x="4314021" y="2015824"/>
                </a:lnTo>
                <a:lnTo>
                  <a:pt x="0" y="2015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9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3817840" y="4905574"/>
            <a:ext cx="6486476" cy="7806481"/>
          </a:xfrm>
          <a:custGeom>
            <a:avLst/>
            <a:gdLst/>
            <a:ahLst/>
            <a:cxnLst/>
            <a:rect l="l" t="t" r="r" b="b"/>
            <a:pathLst>
              <a:path w="6486476" h="7806481">
                <a:moveTo>
                  <a:pt x="0" y="0"/>
                </a:moveTo>
                <a:lnTo>
                  <a:pt x="6486476" y="0"/>
                </a:lnTo>
                <a:lnTo>
                  <a:pt x="6486476" y="7806481"/>
                </a:lnTo>
                <a:lnTo>
                  <a:pt x="0" y="78064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3305941" y="-1266626"/>
            <a:ext cx="3404062" cy="4114800"/>
          </a:xfrm>
          <a:custGeom>
            <a:avLst/>
            <a:gdLst/>
            <a:ahLst/>
            <a:cxnLst/>
            <a:rect l="l" t="t" r="r" b="b"/>
            <a:pathLst>
              <a:path w="3404062" h="4114800">
                <a:moveTo>
                  <a:pt x="0" y="0"/>
                </a:moveTo>
                <a:lnTo>
                  <a:pt x="3404062" y="0"/>
                </a:lnTo>
                <a:lnTo>
                  <a:pt x="34040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1624829" y="7646384"/>
            <a:ext cx="4386022" cy="4114800"/>
          </a:xfrm>
          <a:custGeom>
            <a:avLst/>
            <a:gdLst/>
            <a:ahLst/>
            <a:cxnLst/>
            <a:rect l="l" t="t" r="r" b="b"/>
            <a:pathLst>
              <a:path w="4386022" h="4114800">
                <a:moveTo>
                  <a:pt x="0" y="0"/>
                </a:moveTo>
                <a:lnTo>
                  <a:pt x="4386022" y="0"/>
                </a:lnTo>
                <a:lnTo>
                  <a:pt x="43860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291</Words>
  <Application>Microsoft Office PowerPoint</Application>
  <PresentationFormat>Custom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Canva Sans</vt:lpstr>
      <vt:lpstr>Chunk Five</vt:lpstr>
      <vt:lpstr>Arial</vt:lpstr>
      <vt:lpstr>Calibri</vt:lpstr>
      <vt:lpstr>Barlow Bold</vt:lpstr>
      <vt:lpstr>Barlow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Project</dc:title>
  <cp:lastModifiedBy>rajesh bursu</cp:lastModifiedBy>
  <cp:revision>10</cp:revision>
  <dcterms:created xsi:type="dcterms:W3CDTF">2006-08-16T00:00:00Z</dcterms:created>
  <dcterms:modified xsi:type="dcterms:W3CDTF">2025-11-08T16:39:12Z</dcterms:modified>
  <dc:identifier>DAG4B1dGg7A</dc:identifier>
</cp:coreProperties>
</file>